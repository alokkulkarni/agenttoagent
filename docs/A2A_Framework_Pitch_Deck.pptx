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4864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Agent-to-Agent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6B6D4"/>
                </a:solidFill>
                <a:latin typeface="Calibr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94A3B8"/>
                </a:solidFill>
                <a:latin typeface="Calibri"/>
              </a:rPr>
              <a:t>(A2A)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Enterprise-Grade Autonomous Multi-Agent Collaboration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Key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◆  AWS Bedrock + Claude 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551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◆  Model Context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53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◆  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55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◆  Enterprise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758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◆  Identity Provider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v2.2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Building AI Agents Is Hard.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Real enterprise workflows demand more than a single prompt.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26060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2606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Siloed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54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Individual LLM agents can't coordinate or share context across complex, multi-step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011680"/>
            <a:ext cx="26060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011680"/>
            <a:ext cx="2606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Secure Tool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154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LLMs calling arbitrary tools without authentication, scoping, or audit trails is a security nightmare.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011680"/>
            <a:ext cx="26060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2606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Human Oversight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154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Fully-autonomous pipelines can't pause for human review at critical decision points.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011680"/>
            <a:ext cx="26060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011680"/>
            <a:ext cx="2606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2651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Identity &amp; Access Blind 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31546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Most agent frameworks ship with hardcoded credentials and zero identity provider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A2A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 distributed, microservices-based platform for autonomous multi-agent collaboration
powered by AWS Bedrock with enterprise-grade security built in from day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57200"/>
            <a:ext cx="3566160" cy="5943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457200"/>
            <a:ext cx="35661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914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  <a:latin typeface="Calibri"/>
              </a:rPr>
              <a:t>7+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Specialized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  <a:latin typeface="Calibri"/>
              </a:rPr>
              <a:t>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MCP Tool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IdP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31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389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Async &amp; Non-blocking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937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  <a:latin typeface="Calibri"/>
              </a:rPr>
              <a:t>3-Layer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94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Security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377440"/>
            <a:ext cx="2148840" cy="411480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37744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377440"/>
            <a:ext cx="214884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99F8"/>
                </a:solidFill>
                <a:latin typeface="Calibri"/>
              </a:rP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Think-Plan-Execute-Verify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Context-aware multi-workflow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Parallel step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Human-in-the-loop pause/resume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377440"/>
            <a:ext cx="2148840" cy="411480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237744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88920" y="237744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Tool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017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Model Context Protocol (MCP)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474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Web Search, Calculator, DB, File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31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Auto-discovery via MCP 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389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OBO token exchange per tool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2377440"/>
            <a:ext cx="2148840" cy="411480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66360" y="237744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66360" y="2377440"/>
            <a:ext cx="2148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Enterprise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017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JWT/OIDC identity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474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PII Vault tokenization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3931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Role &amp; scope-based access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389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Tamper-evident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417320"/>
            <a:ext cx="429768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1417320"/>
            <a:ext cx="4297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0" y="1417320"/>
            <a:ext cx="4297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49047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🔐  Identity Provider  (Azure AD / Okta / Auth0 / Cognito / Keycloak / OIDC)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219456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21945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👤  User / CLI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286000"/>
            <a:ext cx="320040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228600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286000"/>
            <a:ext cx="320040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🧠  Orchestrator  (8100)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286000"/>
            <a:ext cx="228600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28600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28600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💾  Context 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286000"/>
            <a:ext cx="265176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28600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286000"/>
            <a:ext cx="2651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🛡  Security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2011680" cy="5486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154680"/>
            <a:ext cx="2011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Research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154680"/>
            <a:ext cx="2011680" cy="5486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06040" y="3154680"/>
            <a:ext cx="2011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Code Analyzer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154680"/>
            <a:ext cx="2011680" cy="5486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60" y="3154680"/>
            <a:ext cx="2011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Data Processor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3154680"/>
            <a:ext cx="2011680" cy="5486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3154680"/>
            <a:ext cx="2011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Math 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3154680"/>
            <a:ext cx="2011680" cy="5486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3154680"/>
            <a:ext cx="20116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Task Executor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069080"/>
            <a:ext cx="320040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406908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406908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MCP Gateway  (8300)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4069080"/>
            <a:ext cx="3200400" cy="5943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54880" y="406908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4069080"/>
            <a:ext cx="320040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MCP Registry  (8200)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9834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98348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056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🔍 Web Search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7560" y="49834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37560" y="498348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5056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🔢 Calculator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9834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98348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5056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📁 File Ops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49834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98280" y="498348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5440" y="50566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🗄 Database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2560320"/>
            <a:ext cx="457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26280" y="196596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97680" y="2862072"/>
            <a:ext cx="36576" cy="292608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86000" y="3703320"/>
            <a:ext cx="36576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0" y="4663440"/>
            <a:ext cx="36576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AGENT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Specialized Agent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Each agent is an independent microservice that auto-registers capabilities with the Registry.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61188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2121408"/>
            <a:ext cx="731520" cy="274320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1031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99F8"/>
                </a:solidFill>
                <a:latin typeface="Calibri"/>
              </a:rPr>
              <a:t>🧠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Think-Plan-Execute-Verify-Reflect workflow engine.
Context-aware session management.
Parallel step scheduling with AsyncIO.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0624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20624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4315968"/>
            <a:ext cx="7315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297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15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🔍 Research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Web search and report generation.
Question answering and concept comparison.
DuckDuckGo / Google API integration.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01168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201168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011680"/>
            <a:ext cx="3611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2121408"/>
            <a:ext cx="7315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21031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:8002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121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💻 Code Analyzer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Python code analysis and explanation.
Suggests improvements and finds bugs.
MCP-powered static analysis tools.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20624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420624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206240"/>
            <a:ext cx="3611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4315968"/>
            <a:ext cx="7315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297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:8003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315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📊 Data Processor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75488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Data transformation and analysis.
Summarization and format conversion.
Streaming data pipeline support.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01168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201168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2011680"/>
            <a:ext cx="36118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35640" y="2121408"/>
            <a:ext cx="7315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60" y="21031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121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➕ Math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56032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Complex mathematical computations.
Equation solving and statistics.
Backed by MCP Calculator server.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4206240"/>
            <a:ext cx="361188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4206240"/>
            <a:ext cx="36118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4206240"/>
            <a:ext cx="3611880" cy="36576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35640" y="4315968"/>
            <a:ext cx="731520" cy="2743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81360" y="4297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:8004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15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Calibri"/>
              </a:rPr>
              <a:t>⚙️ Task Executor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75488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System command execution.
File operations and monitoring.
Protected by PII Vault + Guardrails.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MCP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MCP Tool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Model Context Protocol provides standardized, discoverable, and authenticated tool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MCP Servers register tools on startup with the MCP Registry (auto-discovery).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Agents query the MCP Gateway with natural language — Bedrock selects the right tool.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908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Gateway fetches the tool's auth schema from Registry and performs OBO token exchange.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9204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892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Tool executes with a scoped JWT token and returns result back to the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828800"/>
            <a:ext cx="2743200" cy="201168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182880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82880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1938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🔍 Web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DuckDuckGo / 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search(query)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953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fetch_url(url)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300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summarize_text()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4114800"/>
            <a:ext cx="2743200" cy="201168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411480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411480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4224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🔢 Calculator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Mathematical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calculate(expr)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5239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solve_equation()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586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statistics()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1828800"/>
            <a:ext cx="2743200" cy="201168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182880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240" y="182880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1938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📁 File 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Filesystem 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read_file()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2953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write_file()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3300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list_files()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4114800"/>
            <a:ext cx="2743200" cy="201168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411480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4114800"/>
            <a:ext cx="274320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4224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99F8"/>
                </a:solidFill>
                <a:latin typeface="Calibri"/>
              </a:rPr>
              <a:t>🗄 Database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SQLite / SQL query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query_database()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5239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list_tables()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586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describe_table()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Enterprise Security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Security is not an afterthought — it is woven into every layer of the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370332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03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🔐 Identity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743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JWT / OIDC token validation (RS256 / HS256)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4015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JWKS auto-discovery from any OIDC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0599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Role-based (RBAC) and scope-based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7183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On-Behalf-Of (OBO) token exchange for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3766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Token caching for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011680"/>
            <a:ext cx="370332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011680"/>
            <a:ext cx="37033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🛡 Data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43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PII Vault: auto-tokenize Credit Cards, SSN,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4015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Detokenization only for authorized tool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0599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LLM never processes raw sensitive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7183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Ephemeral in-memory vault (Redis for prod)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53766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Input/output guardrails via AWS Bedrock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011680"/>
            <a:ext cx="370332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2011680"/>
            <a:ext cx="370332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2148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99F8"/>
                </a:solidFill>
                <a:latin typeface="Calibri"/>
              </a:rPr>
              <a:t>📋 Audit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743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WORM audit log: every agent action recorded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34015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Cryptographic chaining (blockchain-style hashes)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40599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Captures: Thought, Plan, Observation,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7183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Tamper-evident log 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53766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Supports compliance frameworks (SOC2, HIPAA)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Pluggable Identity Provider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Zero hardcoded credentials. Any OIDC-compliant provider. Fully configured via environment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Supported Providers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4597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Azure AD (Entra 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42316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242316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1448" y="24597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Okta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42316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242316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4597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Auth0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2608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92608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9626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AWS Cognito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92608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292608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41448" y="29626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Keycloak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926080"/>
            <a:ext cx="1737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2926080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9626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Any OIDC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Capabilities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60520"/>
            <a:ext cx="1508760" cy="283464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JWT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1148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RS256/HS256 signature check + JWKS auto-discovery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636008"/>
            <a:ext cx="1508760" cy="283464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RBAC / Scopes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59028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Role-based &amp; scope-based endpoint access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11496"/>
            <a:ext cx="1508760" cy="283464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657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OBO Token Exchange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06577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Per-tool scoped tokens via On-Behalf-Of 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586984"/>
            <a:ext cx="1508760" cy="283464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5412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Token Caching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541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In-memory cache with TTL for performance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62472"/>
            <a:ext cx="1508760" cy="283464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167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Dev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60167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AUTH_ENABLED=false disables auth for local dev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OBO Token 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423160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2423160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2450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Client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79" y="2587752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24414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Sends Bearer JWT to Orchestrator / Gateway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044952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044952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30723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JWKS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3209544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3063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Gateway fetches JWKS, validates signature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666744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3666744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36941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User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79" y="3831336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36850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UserContext extracted (user_id, roles, scopes)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4288536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4288536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65392" y="4315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Registry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4453128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4306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Gateway queries MCP Registry for tool auth schema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4910328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0" y="4910328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65392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IdP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26679" y="5074920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49286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OBO exchange: user token → tool-scoped token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5532120"/>
            <a:ext cx="1188720" cy="3657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532120"/>
            <a:ext cx="36576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65392" y="5559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Tool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26679" y="5696712"/>
            <a:ext cx="274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MCP Server receives scoped token + executes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HUMAN-IN-LOOP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Human-in-the-Loop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Agents know when to pause and ask — seamless human oversight without breaking workflow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2103120" cy="21945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210312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99F8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Orchestrator decomposes task into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834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011680"/>
            <a:ext cx="2103120" cy="21945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97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Agents run in parallel / sequence.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834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011680"/>
            <a:ext cx="2103120" cy="21945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2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2011680"/>
            <a:ext cx="2103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PAUSE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697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Agent raises question → workflow suspends.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834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011680"/>
            <a:ext cx="2103120" cy="21945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78040" y="2011680"/>
            <a:ext cx="21031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RESUME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697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Human provides input → workflow restores.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834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2011680"/>
            <a:ext cx="2103120" cy="219456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64040" y="2011680"/>
            <a:ext cx="21031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40" y="2011680"/>
            <a:ext cx="21031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Calibri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6974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Result validated. Reflects on quality.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Key Interaction Capabilities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056632"/>
            <a:ext cx="914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Context Branching — Start a new sub-task while original is paused; context preserved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056632"/>
            <a:ext cx="914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983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Session Memory — Conversation history maintained across multiple workflow executions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559552"/>
            <a:ext cx="914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Interactive CLI — Rich terminal chat interface (cli_chat.py) for real-time collaboration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559552"/>
            <a:ext cx="914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WebSocket API — Browser-based interactive workflows with live streaming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Enterprise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From simple Q&amp;A to complex, multi-step enterprise workflows.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Research &amp;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6060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Automated literature review, competitor analysis,
market research, technical deep-dives.
Multiple agents collaborate in parallel.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1168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37033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Code Review &amp;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6060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Autonomous code analysis, bug detection,
refactoring suggestions, security scanning.
Integrates with file system and databases.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01168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01168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011680"/>
            <a:ext cx="3703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1214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Data Processing 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6060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ETL workflows, data transformation,
report generation, analytics summaries.
Human review at critical checkpoints.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20624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206240"/>
            <a:ext cx="370332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99F8"/>
                </a:solidFill>
                <a:latin typeface="Calibri"/>
              </a:rPr>
              <a:t>IT Operations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800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System monitoring, incident detection,
automated diagnostics, SLA reporting.
Escalation to human operators when needed.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20624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420624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4206240"/>
            <a:ext cx="37033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Knowledge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800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Document indexing, semantic search,
cross-source synthesis, Q&amp;A over corpora.
Powered by web search + database tools.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206240"/>
            <a:ext cx="3703320" cy="192024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80" y="4206240"/>
            <a:ext cx="3703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4206240"/>
            <a:ext cx="3703320" cy="36576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4315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Calibri"/>
              </a:rPr>
              <a:t>Compliance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8006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Policy checking, audit trail generation,
PII detection and tokenization,
regulatory reporting with full audit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Modern, cloud-native, fully async Python stack with first-class AWS integration.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21488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214884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99F8"/>
                </a:solidFill>
                <a:latin typeface="Calibri"/>
              </a:rPr>
              <a:t>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AWS Bedrock (Claude 3.5 Sonnet)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Prompt caching (90% cost reduction)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Multi-region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Streaming responses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011680"/>
            <a:ext cx="21488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API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51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FastAPI (async endpoints)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337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Pydantic v2 (data 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Uvicorn ASGI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WebSocket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011680"/>
            <a:ext cx="21488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92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92040" y="2011680"/>
            <a:ext cx="2148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651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PyJWT (RS256 / HS256 validation)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337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httpx (async HTTP client)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OIDC discovery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OBO token exchange (RFC 7523)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2011680"/>
            <a:ext cx="21488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201168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651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Docker + Docker 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337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Microservices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AsyncIO throughout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Structured logging (structlog)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2011680"/>
            <a:ext cx="214884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64040" y="2011680"/>
            <a:ext cx="2148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64040" y="2011680"/>
            <a:ext cx="21488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Observability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651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structlog + colorama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3337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Cryptographic audit chain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Per-service health endpoints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› Tamper-evident log 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Flexible Deployment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Deploy locally, on AWS, on Azure, or in a hybrid configuration.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274320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488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Local /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6060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docker-compose up 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0632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Single command 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703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All services on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343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AUTH_ENABLED=false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Ideal for development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011680"/>
            <a:ext cx="274320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01168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2011680"/>
            <a:ext cx="2743200" cy="36576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21488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99F8"/>
                </a:solidFill>
                <a:latin typeface="Calibri"/>
              </a:rPr>
              <a:t>AWS (Production)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6060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ECS Fargate / EKS / EC2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0632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Per-service containers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703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IAM role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4343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Bedrock in us/eu 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CloudWatch observability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11680"/>
            <a:ext cx="274320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01168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01168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21488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Azure (Enterprise)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6060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ACA / AKS / VM Scale 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0632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Azure AD as IdP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3703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Managed identity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343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Azure Monitor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Key Vault for secrets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011680"/>
            <a:ext cx="2743200" cy="4389120"/>
          </a:xfrm>
          <a:prstGeom prst="rect">
            <a:avLst/>
          </a:prstGeom>
          <a:solidFill>
            <a:srgbClr val="26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201168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201168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2872" y="21488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Hybrid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26060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On-prem + 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2872" y="30632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Agents on-prem, LLM in cloud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7033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VPN / private 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43434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BYOK security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4983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✓  Custom IdP (Keycloak)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64592"/>
            <a:ext cx="16459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45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The A2A Framework is production-ready today — and evolving fast.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✅  Completed (v2.2)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Distributed multi-agent orchestration with Bedrock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535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MCP tool server ecosystem (Search, Calc, DB, File 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8386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Human-in-the-loop pause/resume with context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142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3-layer security: Guardrails + PII Vault + Audit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544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Pluggable identity provider module (OIDC, OBO, RBAC)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Per-tool authentication via MCP Registry auth schemas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🚀  Upcoming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Vector memory store for long-term agent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535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Agent-to-Agent direct messaging protocol (A2A v2)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8386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Streaming workflow execution (SSE / WebSocket)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142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Grafana + Prometheus metrics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44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Multi-tenant workspace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  Plugin marketplace for community MCP servers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920240"/>
            <a:ext cx="36576" cy="4114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400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79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Agent-to-Agent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6B6D4"/>
                </a:solidFill>
                <a:latin typeface="Calibri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Enterprise-grade autonomous multi-agent collaboration,
secured by identity, powered by AWS Bedrock.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2286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github.com/alokkulkarni/agentToAgent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Branch: humaninloopochestrator  |  Version 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By the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78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04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Specialized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634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303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MCP Tool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78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Identity 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375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04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Security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634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2303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Async &amp; Cloud-Native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